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8552A"/>
          </a:solidFill>
          <a:ln w="12700">
            <a:solidFill>
              <a:srgbClr val="C8552A"/>
            </a:solidFill>
            <a:prstDash val="solid"/>
          </a:ln>
        </p:spPr>
      </p:sp>
      <p:sp>
        <p:nvSpPr>
          <p:cNvPr id="3" name="Shape 1"/>
          <p:cNvSpPr/>
          <p:nvPr/>
        </p:nvSpPr>
        <p:spPr>
          <a:xfrm>
            <a:off x="0" y="960120"/>
            <a:ext cx="9144000" cy="36576"/>
          </a:xfrm>
          <a:prstGeom prst="rect">
            <a:avLst/>
          </a:prstGeom>
          <a:solidFill>
            <a:srgbClr val="8B3A1E"/>
          </a:solidFill>
          <a:ln w="12700">
            <a:solidFill>
              <a:srgbClr val="8B3A1E"/>
            </a:solidFill>
            <a:prstDash val="solid"/>
          </a:ln>
        </p:spPr>
      </p:sp>
      <p:sp>
        <p:nvSpPr>
          <p:cNvPr id="4" name="Text 2"/>
          <p:cNvSpPr/>
          <p:nvPr/>
        </p:nvSpPr>
        <p:spPr>
          <a:xfrm>
            <a:off x="411480" y="0"/>
            <a:ext cx="6858000" cy="9601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Pledge for Responsible AI</a:t>
            </a:r>
            <a:endParaRPr lang="en-US" sz="3600" dirty="0"/>
          </a:p>
        </p:txBody>
      </p:sp>
      <p:sp>
        <p:nvSpPr>
          <p:cNvPr id="5" name="Text 3"/>
          <p:cNvSpPr/>
          <p:nvPr/>
        </p:nvSpPr>
        <p:spPr>
          <a:xfrm>
            <a:off x="6400800" y="0"/>
            <a:ext cx="2468880" cy="960120"/>
          </a:xfrm>
          <a:prstGeom prst="rect">
            <a:avLst/>
          </a:prstGeom>
          <a:noFill/>
          <a:ln/>
        </p:spPr>
        <p:txBody>
          <a:bodyPr wrap="square" rtlCol="0" anchor="ctr"/>
          <a:lstStyle/>
          <a:p>
            <a:pPr algn="r" indent="0" marL="0">
              <a:buNone/>
            </a:pPr>
            <a:r>
              <a:rPr lang="en-US" sz="1300" b="1" dirty="0">
                <a:solidFill>
                  <a:srgbClr val="FDCFBE"/>
                </a:solidFill>
                <a:latin typeface="Calibri" pitchFamily="34" charset="0"/>
                <a:ea typeface="Calibri" pitchFamily="34" charset="-122"/>
                <a:cs typeface="Calibri" pitchFamily="34" charset="-120"/>
              </a:rPr>
              <a:t>aicoachellavalley.org</a:t>
            </a:r>
            <a:endParaRPr lang="en-US" sz="1300" dirty="0"/>
          </a:p>
        </p:txBody>
      </p:sp>
      <p:sp>
        <p:nvSpPr>
          <p:cNvPr id="6" name="Text 4"/>
          <p:cNvSpPr/>
          <p:nvPr/>
        </p:nvSpPr>
        <p:spPr>
          <a:xfrm>
            <a:off x="502920" y="1143000"/>
            <a:ext cx="8138160" cy="3726180"/>
          </a:xfrm>
          <a:prstGeom prst="rect">
            <a:avLst/>
          </a:prstGeom>
          <a:noFill/>
          <a:ln/>
        </p:spPr>
        <p:txBody>
          <a:bodyPr wrap="square" rtlCol="0" anchor="ctr"/>
          <a:lstStyle/>
          <a:p>
            <a:pPr indent="0" marL="0">
              <a:buNone/>
            </a:pPr>
            <a:r>
              <a:rPr lang="en-US" sz="2200" i="1" dirty="0">
                <a:solidFill>
                  <a:srgbClr val="1A2744"/>
                </a:solidFill>
                <a:latin typeface="Georgia" pitchFamily="34" charset="0"/>
                <a:ea typeface="Georgia" pitchFamily="34" charset="-122"/>
                <a:cs typeface="Georgia" pitchFamily="34" charset="-120"/>
              </a:rPr>
              <a:t>“AI is part of everyday life — in school, work, and creativity. This pledge is not rules handed down to you. It’s the values you choose when you use powerful tools. Here are seven principles for using this technology thoughtfully. </a:t>
            </a:r>
            <a:pPr indent="0" marL="0">
              <a:buNone/>
            </a:pPr>
            <a:r>
              <a:rPr lang="en-US" sz="2200" b="1" i="1" dirty="0">
                <a:solidFill>
                  <a:srgbClr val="1A2744"/>
                </a:solidFill>
                <a:latin typeface="Georgia" pitchFamily="34" charset="0"/>
                <a:ea typeface="Georgia" pitchFamily="34" charset="-122"/>
                <a:cs typeface="Georgia" pitchFamily="34" charset="-120"/>
              </a:rPr>
              <a:t>Powerful tools require thoughtful people.”</a:t>
            </a:r>
            <a:endParaRPr lang="en-US" sz="2200" dirty="0"/>
          </a:p>
        </p:txBody>
      </p:sp>
      <p:sp>
        <p:nvSpPr>
          <p:cNvPr id="7" name="Text 5"/>
          <p:cNvSpPr/>
          <p:nvPr/>
        </p:nvSpPr>
        <p:spPr>
          <a:xfrm>
            <a:off x="0" y="4850892"/>
            <a:ext cx="8869680" cy="256032"/>
          </a:xfrm>
          <a:prstGeom prst="rect">
            <a:avLst/>
          </a:prstGeom>
          <a:noFill/>
          <a:ln/>
        </p:spPr>
        <p:txBody>
          <a:bodyPr wrap="square" rtlCol="0" anchor="ctr"/>
          <a:lstStyle/>
          <a:p>
            <a:pPr algn="r" indent="0" marL="0">
              <a:buNone/>
            </a:pPr>
            <a:r>
              <a:rPr lang="en-US" sz="800" dirty="0">
                <a:solidFill>
                  <a:srgbClr val="DDD5C0"/>
                </a:solidFill>
                <a:latin typeface="Calibri" pitchFamily="34" charset="0"/>
                <a:ea typeface="Calibri" pitchFamily="34" charset="-122"/>
                <a:cs typeface="Calibri" pitchFamily="34" charset="-120"/>
              </a:rPr>
              <a:t>aicoachellavalley.org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People Lead, AI Follows</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01</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1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You are always the author. Use AI to expand what you can do — not to replace your thinking, your judgment, or your voice. If you stop questioning what AI gives you, you’re letting it make decisions for you.</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Be Honest About What’s AI</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02</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2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If AI made it, say so. A voice, an image, a recommendation — don’t present AI-generated work as purely your own. Trust between people is fragile and hard to rebuild. Protect it like it matters, because it does.</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Guard What’s Private</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03</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3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Before you share, pause. Personal information deserves more protection than most people give it. If something feels like more than you should be sharing, trust that instinct. Share less than you think you need to. Protect more than you think you have to.</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Watch for What’s Unfair</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04</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4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AI learns from the past — and the past wasn’t always fair. Bias gets built into algorithms quietly, showing up in who gets flagged, recommended, or left out. Stay curious. Ask questions. Make sure the tools you use treat everyone the same way.</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Think About Real People</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05</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5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Whether you’re creating with AI or just using it, what you put out affects real people — your neighbors, your community, your family. Before you post, share, or publish, ask: does this actually help? Or does it just add more noise?</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Share What You Learn</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06</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6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Nobody has AI figured out. We’re all discovering its strengths, limits, and risks in real time. Share what you find — the wins, the surprises, the things that didn’t work. Those experiences help all of us grow wiser together.</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8552A"/>
          </a:solidFill>
          <a:ln w="12700">
            <a:solidFill>
              <a:srgbClr val="C8552A"/>
            </a:solidFill>
            <a:prstDash val="solid"/>
          </a:ln>
        </p:spPr>
      </p:sp>
      <p:sp>
        <p:nvSpPr>
          <p:cNvPr id="3" name="Text 1"/>
          <p:cNvSpPr/>
          <p:nvPr/>
        </p:nvSpPr>
        <p:spPr>
          <a:xfrm>
            <a:off x="256032" y="274320"/>
            <a:ext cx="3429000" cy="43205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Stay Human</a:t>
            </a:r>
            <a:endParaRPr lang="en-US" sz="3000" dirty="0"/>
          </a:p>
        </p:txBody>
      </p:sp>
      <p:sp>
        <p:nvSpPr>
          <p:cNvPr id="4" name="Text 2"/>
          <p:cNvSpPr/>
          <p:nvPr/>
        </p:nvSpPr>
        <p:spPr>
          <a:xfrm>
            <a:off x="164592" y="3817620"/>
            <a:ext cx="1463040" cy="1005840"/>
          </a:xfrm>
          <a:prstGeom prst="rect">
            <a:avLst/>
          </a:prstGeom>
          <a:noFill/>
          <a:ln/>
        </p:spPr>
        <p:txBody>
          <a:bodyPr wrap="square" rtlCol="0" anchor="ctr"/>
          <a:lstStyle/>
          <a:p>
            <a:pPr algn="l" indent="0" marL="0">
              <a:buNone/>
            </a:pPr>
            <a:r>
              <a:rPr lang="en-US" sz="7200" b="1" dirty="0">
                <a:solidFill>
                  <a:srgbClr val="EAD4C0"/>
                </a:solidFill>
                <a:latin typeface="Georgia" pitchFamily="34" charset="0"/>
                <a:ea typeface="Georgia" pitchFamily="34" charset="-122"/>
                <a:cs typeface="Georgia" pitchFamily="34" charset="-120"/>
              </a:rPr>
              <a:t>07</a:t>
            </a:r>
            <a:endParaRPr lang="en-US" sz="7200" dirty="0"/>
          </a:p>
        </p:txBody>
      </p:sp>
      <p:sp>
        <p:nvSpPr>
          <p:cNvPr id="5" name="Shape 3"/>
          <p:cNvSpPr/>
          <p:nvPr/>
        </p:nvSpPr>
        <p:spPr>
          <a:xfrm>
            <a:off x="3840480" y="0"/>
            <a:ext cx="5303520" cy="5143500"/>
          </a:xfrm>
          <a:prstGeom prst="rect">
            <a:avLst/>
          </a:prstGeom>
          <a:solidFill>
            <a:srgbClr val="FBF7EE"/>
          </a:solidFill>
          <a:ln w="12700">
            <a:solidFill>
              <a:srgbClr val="FBF7EE"/>
            </a:solidFill>
            <a:prstDash val="solid"/>
          </a:ln>
        </p:spPr>
      </p:sp>
      <p:sp>
        <p:nvSpPr>
          <p:cNvPr id="6" name="Text 4"/>
          <p:cNvSpPr/>
          <p:nvPr/>
        </p:nvSpPr>
        <p:spPr>
          <a:xfrm>
            <a:off x="4160520" y="347472"/>
            <a:ext cx="4846320" cy="320040"/>
          </a:xfrm>
          <a:prstGeom prst="rect">
            <a:avLst/>
          </a:prstGeom>
          <a:noFill/>
          <a:ln/>
        </p:spPr>
        <p:txBody>
          <a:bodyPr wrap="square" rtlCol="0" anchor="ctr"/>
          <a:lstStyle/>
          <a:p>
            <a:pPr algn="l" indent="0" marL="0">
              <a:buNone/>
            </a:pPr>
            <a:r>
              <a:rPr lang="en-US" sz="1050" b="1" dirty="0">
                <a:solidFill>
                  <a:srgbClr val="C8552A"/>
                </a:solidFill>
                <a:latin typeface="Georgia" pitchFamily="34" charset="0"/>
                <a:ea typeface="Georgia" pitchFamily="34" charset="-122"/>
                <a:cs typeface="Georgia" pitchFamily="34" charset="-120"/>
              </a:rPr>
              <a:t>Principle 7 of 7</a:t>
            </a:r>
            <a:endParaRPr lang="en-US" sz="1050" dirty="0"/>
          </a:p>
        </p:txBody>
      </p:sp>
      <p:sp>
        <p:nvSpPr>
          <p:cNvPr id="7" name="Shape 5"/>
          <p:cNvSpPr/>
          <p:nvPr/>
        </p:nvSpPr>
        <p:spPr>
          <a:xfrm>
            <a:off x="4160520" y="768096"/>
            <a:ext cx="4709160" cy="22860"/>
          </a:xfrm>
          <a:prstGeom prst="rect">
            <a:avLst/>
          </a:prstGeom>
          <a:solidFill>
            <a:srgbClr val="C8552A"/>
          </a:solidFill>
          <a:ln w="12700">
            <a:solidFill>
              <a:srgbClr val="C8552A"/>
            </a:solidFill>
            <a:prstDash val="solid"/>
          </a:ln>
        </p:spPr>
      </p:sp>
      <p:sp>
        <p:nvSpPr>
          <p:cNvPr id="8" name="Text 6"/>
          <p:cNvSpPr/>
          <p:nvPr/>
        </p:nvSpPr>
        <p:spPr>
          <a:xfrm>
            <a:off x="4160520" y="914400"/>
            <a:ext cx="4754880" cy="3840480"/>
          </a:xfrm>
          <a:prstGeom prst="rect">
            <a:avLst/>
          </a:prstGeom>
          <a:noFill/>
          <a:ln/>
        </p:spPr>
        <p:txBody>
          <a:bodyPr wrap="square" rtlCol="0" anchor="t"/>
          <a:lstStyle/>
          <a:p>
            <a:pPr algn="l" indent="0" marL="0">
              <a:buNone/>
            </a:pPr>
            <a:r>
              <a:rPr lang="en-US" sz="1700" dirty="0">
                <a:solidFill>
                  <a:srgbClr val="1A2744"/>
                </a:solidFill>
                <a:latin typeface="Georgia" pitchFamily="34" charset="0"/>
                <a:ea typeface="Georgia" pitchFamily="34" charset="-122"/>
                <a:cs typeface="Georgia" pitchFamily="34" charset="-120"/>
              </a:rPr>
              <a:t>AI can be a collaborator and sounding board — but it cannot be you. It doesn’t know you; it reflects you. Real connection, real friendship, real belonging still come from other people. Use AI to expand your humanity, not to replace it.</a:t>
            </a:r>
            <a:endParaRPr lang="en-US" sz="1700" dirty="0"/>
          </a:p>
        </p:txBody>
      </p:sp>
      <p:sp>
        <p:nvSpPr>
          <p:cNvPr id="9" name="Text 7"/>
          <p:cNvSpPr/>
          <p:nvPr/>
        </p:nvSpPr>
        <p:spPr>
          <a:xfrm>
            <a:off x="4023360" y="4850892"/>
            <a:ext cx="4983480" cy="237744"/>
          </a:xfrm>
          <a:prstGeom prst="rect">
            <a:avLst/>
          </a:prstGeom>
          <a:noFill/>
          <a:ln/>
        </p:spPr>
        <p:txBody>
          <a:bodyPr wrap="square" rtlCol="0" anchor="ctr"/>
          <a:lstStyle/>
          <a:p>
            <a:pPr algn="r" indent="0" marL="0">
              <a:buNone/>
            </a:pPr>
            <a:r>
              <a:rPr lang="en-US" sz="750" dirty="0">
                <a:solidFill>
                  <a:srgbClr val="DDD5C0"/>
                </a:solidFill>
                <a:latin typeface="Calibri" pitchFamily="34" charset="0"/>
                <a:ea typeface="Calibri" pitchFamily="34" charset="-122"/>
                <a:cs typeface="Calibri" pitchFamily="34" charset="-120"/>
              </a:rPr>
              <a:t>aicoachellavalley.org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457200" y="274320"/>
            <a:ext cx="8229600" cy="1463040"/>
          </a:xfrm>
          <a:prstGeom prst="rect">
            <a:avLst/>
          </a:prstGeom>
          <a:noFill/>
          <a:ln/>
        </p:spPr>
        <p:txBody>
          <a:bodyPr wrap="square" rtlCol="0" anchor="ctr"/>
          <a:lstStyle/>
          <a:p>
            <a:pPr algn="ctr" indent="0" marL="0">
              <a:buNone/>
            </a:pPr>
            <a:r>
              <a:rPr lang="en-US" sz="6200" b="1" dirty="0">
                <a:solidFill>
                  <a:srgbClr val="FFFFFF"/>
                </a:solidFill>
                <a:latin typeface="Georgia" pitchFamily="34" charset="0"/>
                <a:ea typeface="Georgia" pitchFamily="34" charset="-122"/>
                <a:cs typeface="Georgia" pitchFamily="34" charset="-120"/>
              </a:rPr>
              <a:t>Read it.</a:t>
            </a:r>
            <a:endParaRPr lang="en-US" sz="6200" dirty="0"/>
          </a:p>
        </p:txBody>
      </p:sp>
      <p:sp>
        <p:nvSpPr>
          <p:cNvPr id="3" name="Text 1"/>
          <p:cNvSpPr/>
          <p:nvPr/>
        </p:nvSpPr>
        <p:spPr>
          <a:xfrm>
            <a:off x="457200" y="1664208"/>
            <a:ext cx="8229600" cy="749808"/>
          </a:xfrm>
          <a:prstGeom prst="rect">
            <a:avLst/>
          </a:prstGeom>
          <a:noFill/>
          <a:ln/>
        </p:spPr>
        <p:txBody>
          <a:bodyPr wrap="square" rtlCol="0" anchor="ctr"/>
          <a:lstStyle/>
          <a:p>
            <a:pPr algn="ctr" indent="0" marL="0">
              <a:buNone/>
            </a:pPr>
            <a:r>
              <a:rPr lang="en-US" sz="3000" dirty="0">
                <a:solidFill>
                  <a:srgbClr val="F5EFE0"/>
                </a:solidFill>
                <a:latin typeface="Georgia" pitchFamily="34" charset="0"/>
                <a:ea typeface="Georgia" pitchFamily="34" charset="-122"/>
                <a:cs typeface="Georgia" pitchFamily="34" charset="-120"/>
              </a:rPr>
              <a:t>Sign it.   Breathe it.   Share it.</a:t>
            </a:r>
            <a:endParaRPr lang="en-US" sz="3000" dirty="0"/>
          </a:p>
        </p:txBody>
      </p:sp>
      <p:sp>
        <p:nvSpPr>
          <p:cNvPr id="4" name="Shape 2"/>
          <p:cNvSpPr/>
          <p:nvPr/>
        </p:nvSpPr>
        <p:spPr>
          <a:xfrm>
            <a:off x="1097280" y="2542032"/>
            <a:ext cx="6949440" cy="32004"/>
          </a:xfrm>
          <a:prstGeom prst="rect">
            <a:avLst/>
          </a:prstGeom>
          <a:solidFill>
            <a:srgbClr val="C8552A"/>
          </a:solidFill>
          <a:ln w="12700">
            <a:solidFill>
              <a:srgbClr val="C8552A"/>
            </a:solidFill>
            <a:prstDash val="solid"/>
          </a:ln>
        </p:spPr>
      </p:sp>
      <p:sp>
        <p:nvSpPr>
          <p:cNvPr id="5" name="Text 3"/>
          <p:cNvSpPr/>
          <p:nvPr/>
        </p:nvSpPr>
        <p:spPr>
          <a:xfrm>
            <a:off x="731520" y="2697480"/>
            <a:ext cx="7680960" cy="548640"/>
          </a:xfrm>
          <a:prstGeom prst="rect">
            <a:avLst/>
          </a:prstGeom>
          <a:noFill/>
          <a:ln/>
        </p:spPr>
        <p:txBody>
          <a:bodyPr wrap="square" rtlCol="0" anchor="ctr"/>
          <a:lstStyle/>
          <a:p>
            <a:pPr algn="ctr" indent="0" marL="0">
              <a:buNone/>
            </a:pPr>
            <a:r>
              <a:rPr lang="en-US" sz="1700" b="1" i="1" dirty="0">
                <a:solidFill>
                  <a:srgbClr val="FDCFBE"/>
                </a:solidFill>
                <a:latin typeface="Georgia" pitchFamily="34" charset="0"/>
                <a:ea typeface="Georgia" pitchFamily="34" charset="-122"/>
                <a:cs typeface="Georgia" pitchFamily="34" charset="-120"/>
              </a:rPr>
              <a:t>The most important things about you cannot be generated.</a:t>
            </a:r>
            <a:endParaRPr lang="en-US" sz="1700" dirty="0"/>
          </a:p>
        </p:txBody>
      </p:sp>
      <p:sp>
        <p:nvSpPr>
          <p:cNvPr id="6" name="Text 4"/>
          <p:cNvSpPr/>
          <p:nvPr/>
        </p:nvSpPr>
        <p:spPr>
          <a:xfrm>
            <a:off x="731520" y="3310128"/>
            <a:ext cx="7680960" cy="384048"/>
          </a:xfrm>
          <a:prstGeom prst="rect">
            <a:avLst/>
          </a:prstGeom>
          <a:noFill/>
          <a:ln/>
        </p:spPr>
        <p:txBody>
          <a:bodyPr wrap="square" rtlCol="0" anchor="ctr"/>
          <a:lstStyle/>
          <a:p>
            <a:pPr algn="ctr" indent="0" marL="0">
              <a:buNone/>
            </a:pPr>
            <a:r>
              <a:rPr lang="en-US" sz="1300" i="1" dirty="0">
                <a:solidFill>
                  <a:srgbClr val="C8D4E8"/>
                </a:solidFill>
                <a:latin typeface="Georgia" pitchFamily="34" charset="0"/>
                <a:ea typeface="Georgia" pitchFamily="34" charset="-122"/>
                <a:cs typeface="Georgia" pitchFamily="34" charset="-120"/>
              </a:rPr>
              <a:t>These are principles I hold for myself.</a:t>
            </a:r>
            <a:endParaRPr lang="en-US" sz="1300" dirty="0"/>
          </a:p>
        </p:txBody>
      </p:sp>
      <p:sp>
        <p:nvSpPr>
          <p:cNvPr id="7" name="Text 5"/>
          <p:cNvSpPr/>
          <p:nvPr/>
        </p:nvSpPr>
        <p:spPr>
          <a:xfrm>
            <a:off x="731520" y="3794760"/>
            <a:ext cx="7680960" cy="384048"/>
          </a:xfrm>
          <a:prstGeom prst="rect">
            <a:avLst/>
          </a:prstGeom>
          <a:noFill/>
          <a:ln/>
        </p:spPr>
        <p:txBody>
          <a:bodyPr wrap="square" rtlCol="0" anchor="ctr"/>
          <a:lstStyle/>
          <a:p>
            <a:pPr algn="ctr" indent="0" marL="0">
              <a:buNone/>
            </a:pPr>
            <a:r>
              <a:rPr lang="en-US" sz="1800" b="1" dirty="0">
                <a:solidFill>
                  <a:srgbClr val="C8552A"/>
                </a:solidFill>
                <a:latin typeface="Georgia" pitchFamily="34" charset="0"/>
                <a:ea typeface="Georgia" pitchFamily="34" charset="-122"/>
                <a:cs typeface="Georgia" pitchFamily="34" charset="-120"/>
              </a:rPr>
              <a:t>aicoachellavalley.org</a:t>
            </a:r>
            <a:endParaRPr lang="en-US" sz="1800" dirty="0"/>
          </a:p>
        </p:txBody>
      </p:sp>
      <p:sp>
        <p:nvSpPr>
          <p:cNvPr id="8" name="Text 6"/>
          <p:cNvSpPr/>
          <p:nvPr/>
        </p:nvSpPr>
        <p:spPr>
          <a:xfrm>
            <a:off x="914400" y="4823460"/>
            <a:ext cx="7315200" cy="256032"/>
          </a:xfrm>
          <a:prstGeom prst="rect">
            <a:avLst/>
          </a:prstGeom>
          <a:noFill/>
          <a:ln/>
        </p:spPr>
        <p:txBody>
          <a:bodyPr wrap="square" rtlCol="0" anchor="ctr"/>
          <a:lstStyle/>
          <a:p>
            <a:pPr algn="ctr" indent="0" marL="0">
              <a:buNone/>
            </a:pPr>
            <a:r>
              <a:rPr lang="en-US" sz="850" dirty="0">
                <a:solidFill>
                  <a:srgbClr val="C8D4E8"/>
                </a:solidFill>
                <a:latin typeface="Calibri" pitchFamily="34" charset="0"/>
                <a:ea typeface="Calibri" pitchFamily="34" charset="-122"/>
                <a:cs typeface="Calibri" pitchFamily="34" charset="-120"/>
              </a:rPr>
              <a:t>AI Coachella Valley · Pledge for Responsible AI · ©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Pledge for Responsible AI</dc:title>
  <dc:subject>PptxGenJS Presentation</dc:subject>
  <dc:creator>AI Coachella Valley</dc:creator>
  <cp:lastModifiedBy>AI Coachella Valley</cp:lastModifiedBy>
  <cp:revision>1</cp:revision>
  <dcterms:created xsi:type="dcterms:W3CDTF">2026-03-04T20:24:19Z</dcterms:created>
  <dcterms:modified xsi:type="dcterms:W3CDTF">2026-03-04T20:24:19Z</dcterms:modified>
</cp:coreProperties>
</file>